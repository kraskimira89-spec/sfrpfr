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94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proverkastaza.ru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7315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B486C"/>
                </a:solidFill>
                <a:latin typeface="Aptos"/>
              </a:rPr>
              <a:t>Проверка стажа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72768"/>
            <a:ext cx="9784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23303D"/>
                </a:solidFill>
                <a:latin typeface="Aptos"/>
              </a:rPr>
              <a:t>Сервис понятной навигации по вопросам пенсионного стажа, ИЛС и документов для обращения в СФР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96977"/>
                </a:solidFill>
                <a:latin typeface="Aptos"/>
              </a:rPr>
              <a:t>Презентация для рассмотрения формата социально-правового взаимодействия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749039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3749039"/>
            <a:ext cx="64008" cy="1508760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3931920"/>
            <a:ext cx="3017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486C"/>
                </a:solidFill>
                <a:latin typeface="Aptos"/>
              </a:rPr>
              <a:t>Проверяем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352544"/>
            <a:ext cx="2990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3303D"/>
                </a:solidFill>
                <a:latin typeface="Aptos"/>
              </a:rPr>
              <a:t>ИЛС,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трудовую</a:t>
            </a:r>
            <a:r>
              <a:rPr b="0" dirty="0">
                <a:solidFill>
                  <a:srgbClr val="23303D"/>
                </a:solidFill>
                <a:latin typeface="Aptos"/>
              </a:rPr>
              <a:t>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историю</a:t>
            </a:r>
            <a:r>
              <a:rPr b="0" dirty="0">
                <a:solidFill>
                  <a:srgbClr val="23303D"/>
                </a:solidFill>
                <a:latin typeface="Aptos"/>
              </a:rPr>
              <a:t> и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подтверждающие</a:t>
            </a:r>
            <a:r>
              <a:rPr b="0" dirty="0">
                <a:solidFill>
                  <a:srgbClr val="23303D"/>
                </a:solidFill>
                <a:latin typeface="Aptos"/>
              </a:rPr>
              <a:t>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документы</a:t>
            </a:r>
            <a:endParaRPr b="0" dirty="0">
              <a:solidFill>
                <a:srgbClr val="23303D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34840" y="3749039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3749039"/>
            <a:ext cx="64008" cy="1508760"/>
          </a:xfrm>
          <a:prstGeom prst="rect">
            <a:avLst/>
          </a:prstGeom>
          <a:solidFill>
            <a:srgbClr val="2C6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3931920"/>
            <a:ext cx="3017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486C"/>
                </a:solidFill>
                <a:latin typeface="Aptos"/>
              </a:rPr>
              <a:t>Готовим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4352544"/>
            <a:ext cx="2990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23303D"/>
                </a:solidFill>
                <a:latin typeface="Aptos"/>
              </a:rPr>
              <a:t>перечень</a:t>
            </a:r>
            <a:r>
              <a:rPr b="0" dirty="0">
                <a:solidFill>
                  <a:srgbClr val="23303D"/>
                </a:solidFill>
                <a:latin typeface="Aptos"/>
              </a:rPr>
              <a:t>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документов</a:t>
            </a:r>
            <a:r>
              <a:rPr b="0" dirty="0">
                <a:solidFill>
                  <a:srgbClr val="23303D"/>
                </a:solidFill>
                <a:latin typeface="Aptos"/>
              </a:rPr>
              <a:t>,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план</a:t>
            </a:r>
            <a:r>
              <a:rPr b="0" dirty="0">
                <a:solidFill>
                  <a:srgbClr val="23303D"/>
                </a:solidFill>
                <a:latin typeface="Aptos"/>
              </a:rPr>
              <a:t>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действий</a:t>
            </a:r>
            <a:r>
              <a:rPr b="0" dirty="0">
                <a:solidFill>
                  <a:srgbClr val="23303D"/>
                </a:solidFill>
                <a:latin typeface="Aptos"/>
              </a:rPr>
              <a:t> и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проект</a:t>
            </a:r>
            <a:r>
              <a:rPr b="0" dirty="0">
                <a:solidFill>
                  <a:srgbClr val="23303D"/>
                </a:solidFill>
                <a:latin typeface="Aptos"/>
              </a:rPr>
              <a:t>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обращения</a:t>
            </a:r>
            <a:endParaRPr b="0" dirty="0">
              <a:solidFill>
                <a:srgbClr val="23303D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83879" y="3749039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3749039"/>
            <a:ext cx="64008" cy="1508760"/>
          </a:xfrm>
          <a:prstGeom prst="rect">
            <a:avLst/>
          </a:prstGeom>
          <a:solidFill>
            <a:srgbClr val="C69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3931920"/>
            <a:ext cx="3017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486C"/>
                </a:solidFill>
                <a:latin typeface="Aptos"/>
              </a:rPr>
              <a:t>Не обещаем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4352544"/>
            <a:ext cx="2990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23303D"/>
                </a:solidFill>
                <a:latin typeface="Aptos"/>
              </a:rPr>
              <a:t>назначение</a:t>
            </a:r>
            <a:r>
              <a:rPr b="0" dirty="0">
                <a:solidFill>
                  <a:srgbClr val="23303D"/>
                </a:solidFill>
                <a:latin typeface="Aptos"/>
              </a:rPr>
              <a:t>,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перерасчёт</a:t>
            </a:r>
            <a:r>
              <a:rPr b="0" dirty="0">
                <a:solidFill>
                  <a:srgbClr val="23303D"/>
                </a:solidFill>
                <a:latin typeface="Aptos"/>
              </a:rPr>
              <a:t>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или</a:t>
            </a:r>
            <a:r>
              <a:rPr b="0" dirty="0">
                <a:solidFill>
                  <a:srgbClr val="23303D"/>
                </a:solidFill>
                <a:latin typeface="Aptos"/>
              </a:rPr>
              <a:t>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конкретный</a:t>
            </a:r>
            <a:r>
              <a:rPr b="0" dirty="0">
                <a:solidFill>
                  <a:srgbClr val="23303D"/>
                </a:solidFill>
                <a:latin typeface="Aptos"/>
              </a:rPr>
              <a:t>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размер</a:t>
            </a:r>
            <a:r>
              <a:rPr b="0" dirty="0">
                <a:solidFill>
                  <a:srgbClr val="23303D"/>
                </a:solidFill>
                <a:latin typeface="Aptos"/>
              </a:rPr>
              <a:t>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пенсии</a:t>
            </a:r>
            <a:endParaRPr b="0" dirty="0">
              <a:solidFill>
                <a:srgbClr val="23303D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589788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B486C"/>
                </a:solidFill>
                <a:latin typeface="Aptos"/>
                <a:hlinkClick r:id="rId2" action="ppaction://hlinkfile"/>
              </a:rPr>
              <a:t>proverkastaza.ru  </a:t>
            </a:r>
            <a:r>
              <a:rPr sz="1400" b="1" dirty="0">
                <a:solidFill>
                  <a:srgbClr val="1B486C"/>
                </a:solidFill>
                <a:latin typeface="Aptos"/>
              </a:rPr>
              <a:t>•  ООО «</a:t>
            </a:r>
            <a:r>
              <a:rPr sz="1400" b="1" dirty="0" err="1">
                <a:solidFill>
                  <a:srgbClr val="1B486C"/>
                </a:solidFill>
                <a:latin typeface="Aptos"/>
              </a:rPr>
              <a:t>Под</a:t>
            </a:r>
            <a:r>
              <a:rPr sz="1400" b="1" dirty="0">
                <a:solidFill>
                  <a:srgbClr val="1B486C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B486C"/>
                </a:solidFill>
                <a:latin typeface="Aptos"/>
              </a:rPr>
              <a:t>присмотром</a:t>
            </a:r>
            <a:r>
              <a:rPr sz="1400" b="1" dirty="0">
                <a:solidFill>
                  <a:srgbClr val="1B486C"/>
                </a:solidFill>
                <a:latin typeface="Aptos"/>
              </a:rPr>
              <a:t>»  •  </a:t>
            </a:r>
            <a:r>
              <a:rPr sz="1400" b="1" dirty="0" err="1">
                <a:solidFill>
                  <a:srgbClr val="1B486C"/>
                </a:solidFill>
                <a:latin typeface="Aptos"/>
              </a:rPr>
              <a:t>Ноябрьск</a:t>
            </a:r>
            <a:r>
              <a:rPr sz="1400" b="1" dirty="0">
                <a:solidFill>
                  <a:srgbClr val="1B486C"/>
                </a:solidFill>
                <a:latin typeface="Aptos"/>
              </a:rPr>
              <a:t>, ЯНАО</a:t>
            </a:r>
            <a:endParaRPr lang="en-US" sz="1400" b="1" dirty="0">
              <a:solidFill>
                <a:srgbClr val="1B486C"/>
              </a:solidFill>
              <a:latin typeface="Aptos"/>
            </a:endParaRPr>
          </a:p>
          <a:p>
            <a:pPr algn="l"/>
            <a:r>
              <a:rPr lang="ru-RU" sz="1400" b="1" dirty="0">
                <a:solidFill>
                  <a:srgbClr val="1B486C"/>
                </a:solidFill>
                <a:latin typeface="Aptos"/>
              </a:rPr>
              <a:t>Богдановский Сергей Викторович +79091950408</a:t>
            </a:r>
            <a:endParaRPr sz="1400" b="1" dirty="0">
              <a:solidFill>
                <a:srgbClr val="1B486C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6977"/>
                </a:solidFill>
                <a:latin typeface="Aptos"/>
              </a:rPr>
              <a:t>proverkastaza.ru  •  ООО «Под присмотром»  •  информационно-документарная поддержка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6977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86C"/>
                </a:solidFill>
                <a:latin typeface="Aptos"/>
              </a:rPr>
              <a:t>Проблема: гражданин видит сумму, но не видит логику данных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234440" cy="54864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977"/>
                </a:solidFill>
                <a:latin typeface="Aptos"/>
              </a:rPr>
              <a:t>Пенсионный вопрос часто начинается не с расчёта, а с неясных или неполных сведений.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3303D"/>
                </a:solidFill>
                <a:latin typeface="Aptos"/>
              </a:rPr>
              <a:t>• В выписке ИЛС не отражён ожидаемый период работы
• Трудовая книжка, справки и сведения ИЛС расходятся
• Работодатель ликвидирован, документы нужно искать в архиве
• Непонятно, что приложить к обращению в СФР и как описать проблему
• Родственники берут на себя цифровую и документальную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737360"/>
            <a:ext cx="4389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75120" y="1737360"/>
            <a:ext cx="64008" cy="3383280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76288" y="192024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86C"/>
                </a:solidFill>
                <a:latin typeface="Aptos"/>
              </a:rPr>
              <a:t>Типичный путь без навигации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6288" y="2340864"/>
            <a:ext cx="40416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0" dirty="0">
                <a:solidFill>
                  <a:srgbClr val="23303D"/>
                </a:solidFill>
                <a:latin typeface="Aptos"/>
              </a:rPr>
              <a:t>→ </a:t>
            </a:r>
            <a:r>
              <a:rPr sz="2400" b="0" dirty="0" err="1">
                <a:solidFill>
                  <a:srgbClr val="23303D"/>
                </a:solidFill>
                <a:latin typeface="Aptos"/>
              </a:rPr>
              <a:t>Тревога</a:t>
            </a:r>
            <a:r>
              <a:rPr sz="2400" b="0" dirty="0">
                <a:solidFill>
                  <a:srgbClr val="23303D"/>
                </a:solidFill>
                <a:latin typeface="Aptos"/>
              </a:rPr>
              <a:t> </a:t>
            </a:r>
            <a:endParaRPr lang="en-US" sz="2400" b="0" dirty="0">
              <a:solidFill>
                <a:srgbClr val="23303D"/>
              </a:solidFill>
              <a:latin typeface="Aptos"/>
            </a:endParaRPr>
          </a:p>
          <a:p>
            <a:pPr algn="l"/>
            <a:r>
              <a:rPr sz="2400" b="0" dirty="0">
                <a:solidFill>
                  <a:srgbClr val="23303D"/>
                </a:solidFill>
                <a:latin typeface="Aptos"/>
              </a:rPr>
              <a:t>→ </a:t>
            </a:r>
            <a:r>
              <a:rPr sz="2400" b="0" dirty="0" err="1">
                <a:solidFill>
                  <a:srgbClr val="23303D"/>
                </a:solidFill>
                <a:latin typeface="Aptos"/>
              </a:rPr>
              <a:t>самостоятельный</a:t>
            </a:r>
            <a:r>
              <a:rPr sz="24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23303D"/>
                </a:solidFill>
                <a:latin typeface="Aptos"/>
              </a:rPr>
              <a:t>поиск</a:t>
            </a:r>
            <a:r>
              <a:rPr sz="2400" b="0" dirty="0">
                <a:solidFill>
                  <a:srgbClr val="23303D"/>
                </a:solidFill>
                <a:latin typeface="Aptos"/>
              </a:rPr>
              <a:t> </a:t>
            </a:r>
            <a:endParaRPr lang="en-US" sz="2400" b="0" dirty="0">
              <a:solidFill>
                <a:srgbClr val="23303D"/>
              </a:solidFill>
              <a:latin typeface="Aptos"/>
            </a:endParaRPr>
          </a:p>
          <a:p>
            <a:pPr algn="l"/>
            <a:r>
              <a:rPr sz="2400" b="0" dirty="0">
                <a:solidFill>
                  <a:srgbClr val="23303D"/>
                </a:solidFill>
                <a:latin typeface="Aptos"/>
              </a:rPr>
              <a:t>→ </a:t>
            </a:r>
            <a:r>
              <a:rPr sz="2400" b="0" dirty="0" err="1">
                <a:solidFill>
                  <a:srgbClr val="23303D"/>
                </a:solidFill>
                <a:latin typeface="Aptos"/>
              </a:rPr>
              <a:t>неполный</a:t>
            </a:r>
            <a:r>
              <a:rPr sz="24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23303D"/>
                </a:solidFill>
                <a:latin typeface="Aptos"/>
              </a:rPr>
              <a:t>комплект</a:t>
            </a:r>
            <a:r>
              <a:rPr sz="24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23303D"/>
                </a:solidFill>
                <a:latin typeface="Aptos"/>
              </a:rPr>
              <a:t>документов</a:t>
            </a:r>
            <a:r>
              <a:rPr sz="2400" b="0" dirty="0">
                <a:solidFill>
                  <a:srgbClr val="23303D"/>
                </a:solidFill>
                <a:latin typeface="Aptos"/>
              </a:rPr>
              <a:t> </a:t>
            </a:r>
            <a:endParaRPr lang="en-US" sz="2400" b="0" dirty="0">
              <a:solidFill>
                <a:srgbClr val="23303D"/>
              </a:solidFill>
              <a:latin typeface="Aptos"/>
            </a:endParaRPr>
          </a:p>
          <a:p>
            <a:pPr algn="l"/>
            <a:r>
              <a:rPr sz="2400" b="0" dirty="0">
                <a:solidFill>
                  <a:srgbClr val="23303D"/>
                </a:solidFill>
                <a:latin typeface="Aptos"/>
              </a:rPr>
              <a:t>→ </a:t>
            </a:r>
            <a:r>
              <a:rPr sz="2400" b="0" dirty="0" err="1">
                <a:solidFill>
                  <a:srgbClr val="23303D"/>
                </a:solidFill>
                <a:latin typeface="Aptos"/>
              </a:rPr>
              <a:t>повторные</a:t>
            </a:r>
            <a:r>
              <a:rPr sz="24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23303D"/>
                </a:solidFill>
                <a:latin typeface="Aptos"/>
              </a:rPr>
              <a:t>обращения</a:t>
            </a:r>
            <a:r>
              <a:rPr sz="2400" b="0" dirty="0">
                <a:solidFill>
                  <a:srgbClr val="23303D"/>
                </a:solidFill>
                <a:latin typeface="Aptos"/>
              </a:rPr>
              <a:t> </a:t>
            </a:r>
            <a:endParaRPr lang="en-US" sz="2400" b="0" dirty="0">
              <a:solidFill>
                <a:srgbClr val="23303D"/>
              </a:solidFill>
              <a:latin typeface="Aptos"/>
            </a:endParaRPr>
          </a:p>
          <a:p>
            <a:pPr algn="l"/>
            <a:r>
              <a:rPr sz="2400" b="0" dirty="0">
                <a:solidFill>
                  <a:srgbClr val="23303D"/>
                </a:solidFill>
                <a:latin typeface="Aptos"/>
              </a:rPr>
              <a:t>→ </a:t>
            </a:r>
            <a:r>
              <a:rPr sz="2400" b="0" dirty="0" err="1">
                <a:solidFill>
                  <a:srgbClr val="23303D"/>
                </a:solidFill>
                <a:latin typeface="Aptos"/>
              </a:rPr>
              <a:t>отсутствие</a:t>
            </a:r>
            <a:r>
              <a:rPr sz="24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23303D"/>
                </a:solidFill>
                <a:latin typeface="Aptos"/>
              </a:rPr>
              <a:t>ясности</a:t>
            </a:r>
            <a:r>
              <a:rPr sz="2400" b="0" dirty="0">
                <a:solidFill>
                  <a:srgbClr val="23303D"/>
                </a:solidFill>
                <a:latin typeface="Apto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54406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86C"/>
                </a:solidFill>
                <a:latin typeface="Aptos"/>
              </a:rPr>
              <a:t>Нужен понятный, законный и безопасный маршрут.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6977"/>
                </a:solidFill>
                <a:latin typeface="Aptos"/>
              </a:rPr>
              <a:t>proverkastaza.ru  •  ООО «Под присмотром»  •  информационно-документарная поддержка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6977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86C"/>
                </a:solidFill>
                <a:latin typeface="Aptos"/>
              </a:rPr>
              <a:t>Решение: «Проверка стажа»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234440" cy="54864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977"/>
                </a:solidFill>
                <a:latin typeface="Aptos"/>
              </a:rPr>
              <a:t>Не заменяет государственный орган — помогает человеку подготовиться к обращению.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64008" cy="2148840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86C"/>
                </a:solidFill>
                <a:latin typeface="Aptos"/>
              </a:rPr>
              <a:t>Сверяем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30358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303D"/>
                </a:solidFill>
                <a:latin typeface="Aptos"/>
              </a:rPr>
              <a:t>Выписка ИЛС, трудовая книжка, справки и периоды работы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80" y="1828800"/>
            <a:ext cx="64008" cy="2148840"/>
          </a:xfrm>
          <a:prstGeom prst="rect">
            <a:avLst/>
          </a:prstGeom>
          <a:solidFill>
            <a:srgbClr val="2C6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27448" y="20116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86C"/>
                </a:solidFill>
                <a:latin typeface="Aptos"/>
              </a:rPr>
              <a:t>Выявляем вопросы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432304"/>
            <a:ext cx="30358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303D"/>
                </a:solidFill>
                <a:latin typeface="Aptos"/>
              </a:rPr>
              <a:t>Возможные расхождения и перечень недостающих подтверждений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1040" y="1828800"/>
            <a:ext cx="64008" cy="2148840"/>
          </a:xfrm>
          <a:prstGeom prst="rect">
            <a:avLst/>
          </a:prstGeom>
          <a:solidFill>
            <a:srgbClr val="C69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22208" y="20116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86C"/>
                </a:solidFill>
                <a:latin typeface="Aptos"/>
              </a:rPr>
              <a:t>Строим маршрут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432304"/>
            <a:ext cx="30358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303D"/>
                </a:solidFill>
                <a:latin typeface="Aptos"/>
              </a:rPr>
              <a:t>Пошаговый план и проект обращения для самостоятельной подачи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486C"/>
                </a:solidFill>
                <a:latin typeface="Aptos"/>
              </a:rPr>
              <a:t>Результат — не обещание «прибавки», а понятная картина документов и следующий обоснованный шаг.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6977"/>
                </a:solidFill>
                <a:latin typeface="Aptos"/>
              </a:rPr>
              <a:t>proverkastaza.ru  •  ООО «Под присмотром»  •  информационно-документарная поддержка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6977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86C"/>
                </a:solidFill>
                <a:latin typeface="Aptos"/>
              </a:rPr>
              <a:t>Что именно делает сервис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234440" cy="54864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977"/>
                </a:solidFill>
                <a:latin typeface="Aptos"/>
              </a:rPr>
              <a:t>Информационно-документарная поддержка в типовых жизненных ситуациях.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64008" cy="960120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783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86C"/>
                </a:solidFill>
                <a:latin typeface="Aptos"/>
              </a:rPr>
              <a:t>Выписка ИЛС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03704"/>
            <a:ext cx="4910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303D"/>
                </a:solidFill>
                <a:latin typeface="Aptos"/>
              </a:rPr>
              <a:t>Помогаем понять, какие периоды и сведения в ней отражены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002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55080" y="1600200"/>
            <a:ext cx="64008" cy="960120"/>
          </a:xfrm>
          <a:prstGeom prst="rect">
            <a:avLst/>
          </a:prstGeom>
          <a:solidFill>
            <a:srgbClr val="2C6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6248" y="1783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86C"/>
                </a:solidFill>
                <a:latin typeface="Aptos"/>
              </a:rPr>
              <a:t>Трудовая и справки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203704"/>
            <a:ext cx="4910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303D"/>
                </a:solidFill>
                <a:latin typeface="Aptos"/>
              </a:rPr>
              <a:t>Сопоставляем записи, даты, работодателей и подтверждения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62072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862072"/>
            <a:ext cx="64008" cy="960120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0449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86C"/>
                </a:solidFill>
                <a:latin typeface="Aptos"/>
              </a:rPr>
              <a:t>Архивы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303016"/>
            <a:ext cx="4910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solidFill>
                  <a:srgbClr val="23303D"/>
                </a:solidFill>
                <a:latin typeface="Aptos"/>
              </a:rPr>
              <a:t>Определяем</a:t>
            </a:r>
            <a:r>
              <a:rPr sz="1300" b="0" dirty="0">
                <a:solidFill>
                  <a:srgbClr val="23303D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23303D"/>
                </a:solidFill>
                <a:latin typeface="Aptos"/>
              </a:rPr>
              <a:t>какие</a:t>
            </a:r>
            <a:r>
              <a:rPr sz="13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3303D"/>
                </a:solidFill>
                <a:latin typeface="Aptos"/>
              </a:rPr>
              <a:t>сведения</a:t>
            </a:r>
            <a:r>
              <a:rPr sz="1300" b="0" dirty="0">
                <a:solidFill>
                  <a:srgbClr val="23303D"/>
                </a:solidFill>
                <a:latin typeface="Aptos"/>
              </a:rPr>
              <a:t> и </a:t>
            </a:r>
            <a:r>
              <a:rPr sz="1300" b="0" dirty="0" err="1">
                <a:solidFill>
                  <a:srgbClr val="23303D"/>
                </a:solidFill>
                <a:latin typeface="Aptos"/>
              </a:rPr>
              <a:t>где</a:t>
            </a:r>
            <a:r>
              <a:rPr sz="13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3303D"/>
                </a:solidFill>
                <a:latin typeface="Aptos"/>
              </a:rPr>
              <a:t>целесообразно</a:t>
            </a:r>
            <a:r>
              <a:rPr sz="13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3303D"/>
                </a:solidFill>
                <a:latin typeface="Aptos"/>
              </a:rPr>
              <a:t>запрашивать</a:t>
            </a:r>
            <a:endParaRPr sz="1300" b="0" dirty="0">
              <a:solidFill>
                <a:srgbClr val="23303D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55080" y="2862072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2862072"/>
            <a:ext cx="64008" cy="960120"/>
          </a:xfrm>
          <a:prstGeom prst="rect">
            <a:avLst/>
          </a:prstGeom>
          <a:solidFill>
            <a:srgbClr val="2C6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56248" y="30449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86C"/>
                </a:solidFill>
                <a:latin typeface="Aptos"/>
              </a:rPr>
              <a:t>Ответ СФР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333496"/>
            <a:ext cx="4910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solidFill>
                  <a:srgbClr val="23303D"/>
                </a:solidFill>
                <a:latin typeface="Aptos"/>
              </a:rPr>
              <a:t>Разбираем</a:t>
            </a:r>
            <a:r>
              <a:rPr sz="13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3303D"/>
                </a:solidFill>
                <a:latin typeface="Aptos"/>
              </a:rPr>
              <a:t>основание</a:t>
            </a:r>
            <a:r>
              <a:rPr sz="13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3303D"/>
                </a:solidFill>
                <a:latin typeface="Aptos"/>
              </a:rPr>
              <a:t>ответа</a:t>
            </a:r>
            <a:r>
              <a:rPr sz="1300" b="0" dirty="0">
                <a:solidFill>
                  <a:srgbClr val="23303D"/>
                </a:solidFill>
                <a:latin typeface="Aptos"/>
              </a:rPr>
              <a:t> и </a:t>
            </a:r>
            <a:r>
              <a:rPr sz="1300" b="0" dirty="0" err="1">
                <a:solidFill>
                  <a:srgbClr val="23303D"/>
                </a:solidFill>
                <a:latin typeface="Aptos"/>
              </a:rPr>
              <a:t>формируем</a:t>
            </a:r>
            <a:r>
              <a:rPr sz="13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3303D"/>
                </a:solidFill>
                <a:latin typeface="Aptos"/>
              </a:rPr>
              <a:t>перечень</a:t>
            </a:r>
            <a:r>
              <a:rPr sz="13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3303D"/>
                </a:solidFill>
                <a:latin typeface="Aptos"/>
              </a:rPr>
              <a:t>дальнейших</a:t>
            </a:r>
            <a:r>
              <a:rPr sz="13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3303D"/>
                </a:solidFill>
                <a:latin typeface="Aptos"/>
              </a:rPr>
              <a:t>шагов</a:t>
            </a:r>
            <a:endParaRPr sz="1300" b="0" dirty="0">
              <a:solidFill>
                <a:srgbClr val="23303D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5800" y="4123944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123944"/>
            <a:ext cx="64008" cy="960120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430682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86C"/>
                </a:solidFill>
                <a:latin typeface="Aptos"/>
              </a:rPr>
              <a:t>Проект обращения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564888"/>
            <a:ext cx="4910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solidFill>
                  <a:srgbClr val="23303D"/>
                </a:solidFill>
                <a:latin typeface="Aptos"/>
              </a:rPr>
              <a:t>Помогаем</a:t>
            </a:r>
            <a:r>
              <a:rPr sz="13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3303D"/>
                </a:solidFill>
                <a:latin typeface="Aptos"/>
              </a:rPr>
              <a:t>структурировать</a:t>
            </a:r>
            <a:r>
              <a:rPr sz="13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3303D"/>
                </a:solidFill>
                <a:latin typeface="Aptos"/>
              </a:rPr>
              <a:t>текст</a:t>
            </a:r>
            <a:r>
              <a:rPr sz="13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3303D"/>
                </a:solidFill>
                <a:latin typeface="Aptos"/>
              </a:rPr>
              <a:t>обращения</a:t>
            </a:r>
            <a:r>
              <a:rPr sz="1300" b="0" dirty="0">
                <a:solidFill>
                  <a:srgbClr val="23303D"/>
                </a:solidFill>
                <a:latin typeface="Aptos"/>
              </a:rPr>
              <a:t> и </a:t>
            </a:r>
            <a:r>
              <a:rPr sz="1300" b="0" dirty="0" err="1">
                <a:solidFill>
                  <a:srgbClr val="23303D"/>
                </a:solidFill>
                <a:latin typeface="Aptos"/>
              </a:rPr>
              <a:t>перечень</a:t>
            </a:r>
            <a:r>
              <a:rPr sz="13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3303D"/>
                </a:solidFill>
                <a:latin typeface="Aptos"/>
              </a:rPr>
              <a:t>приложений</a:t>
            </a:r>
            <a:endParaRPr sz="1300" b="0" dirty="0">
              <a:solidFill>
                <a:srgbClr val="23303D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6977"/>
                </a:solidFill>
                <a:latin typeface="Aptos"/>
              </a:rPr>
              <a:t>proverkastaza.ru  •  ООО «Под присмотром»  •  информационно-документарная поддержка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6977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86C"/>
                </a:solidFill>
                <a:latin typeface="Aptos"/>
              </a:rPr>
              <a:t>Прозрачные границы ответственности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234440" cy="54864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977"/>
                </a:solidFill>
                <a:latin typeface="Aptos"/>
              </a:rPr>
              <a:t>Ключевое условие доверия, корректной коммуникации и безопасности гражданина.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64008" cy="3383280"/>
          </a:xfrm>
          <a:prstGeom prst="rect">
            <a:avLst/>
          </a:prstGeom>
          <a:solidFill>
            <a:srgbClr val="C69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86C"/>
                </a:solidFill>
                <a:latin typeface="Aptos"/>
              </a:rPr>
              <a:t>Сервис не делает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49424"/>
            <a:ext cx="486460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6634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303D"/>
                </a:solidFill>
                <a:latin typeface="Aptos"/>
              </a:rPr>
              <a:t>• Не является СФР или иным государственным органом
• Не принимает решения о назначении или перерасчёте пенсии
• Не гарантирует увеличение выплаты или конкретную сумму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2120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64008" cy="3383280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8288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86C"/>
                </a:solidFill>
                <a:latin typeface="Aptos"/>
              </a:rPr>
              <a:t>Сервис обеспечивает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249424"/>
            <a:ext cx="486460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46634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303D"/>
                </a:solidFill>
                <a:latin typeface="Aptos"/>
              </a:rPr>
              <a:t>• Не подаёт заявление вместо гражданина
• Не принимает сканы в открытых чатах и формах
• Работает с документами в защищённом личном кабинете после согласия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6977"/>
                </a:solidFill>
                <a:latin typeface="Aptos"/>
              </a:rPr>
              <a:t>proverkastaza.ru  •  ООО «Под присмотром»  •  информационно-документарная поддержка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6977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86C"/>
                </a:solidFill>
                <a:latin typeface="Aptos"/>
              </a:rPr>
              <a:t>Как проходит помощь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234440" cy="54864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977"/>
                </a:solidFill>
                <a:latin typeface="Aptos"/>
              </a:rPr>
              <a:t>От первичного вопроса — к самостоятельному обращению гражданина.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640080" y="1709928"/>
            <a:ext cx="502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73352"/>
            <a:ext cx="2880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B486C"/>
                </a:solidFill>
                <a:latin typeface="Aptos"/>
              </a:rPr>
              <a:t>Заявка или вопрос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48840"/>
            <a:ext cx="2834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 err="1">
                <a:solidFill>
                  <a:srgbClr val="596977"/>
                </a:solidFill>
                <a:latin typeface="Aptos"/>
              </a:rPr>
              <a:t>Короткий</a:t>
            </a:r>
            <a:r>
              <a:rPr sz="2400" b="0" dirty="0">
                <a:solidFill>
                  <a:srgbClr val="596977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596977"/>
                </a:solidFill>
                <a:latin typeface="Aptos"/>
              </a:rPr>
              <a:t>контакт</a:t>
            </a:r>
            <a:r>
              <a:rPr sz="2400" b="0" dirty="0">
                <a:solidFill>
                  <a:srgbClr val="596977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596977"/>
                </a:solidFill>
                <a:latin typeface="Aptos"/>
              </a:rPr>
              <a:t>без</a:t>
            </a:r>
            <a:r>
              <a:rPr sz="2400" b="0" dirty="0">
                <a:solidFill>
                  <a:srgbClr val="596977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596977"/>
                </a:solidFill>
                <a:latin typeface="Aptos"/>
              </a:rPr>
              <a:t>передачи</a:t>
            </a:r>
            <a:r>
              <a:rPr sz="2400" b="0" dirty="0">
                <a:solidFill>
                  <a:srgbClr val="596977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596977"/>
                </a:solidFill>
                <a:latin typeface="Aptos"/>
              </a:rPr>
              <a:t>сканов</a:t>
            </a:r>
            <a:endParaRPr sz="2400" b="0" dirty="0">
              <a:solidFill>
                <a:srgbClr val="596977"/>
              </a:solidFill>
              <a:latin typeface="Aptos"/>
            </a:endParaRPr>
          </a:p>
        </p:txBody>
      </p:sp>
      <p:sp>
        <p:nvSpPr>
          <p:cNvPr id="9" name="Oval 8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4480560" y="1709928"/>
            <a:ext cx="502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673352"/>
            <a:ext cx="2880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B486C"/>
                </a:solidFill>
                <a:latin typeface="Aptos"/>
              </a:rPr>
              <a:t>Список документов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148840"/>
            <a:ext cx="2834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96977"/>
                </a:solidFill>
                <a:latin typeface="Aptos"/>
              </a:rPr>
              <a:t>Чек-лист для конкретной ситуации</a:t>
            </a:r>
          </a:p>
        </p:txBody>
      </p:sp>
      <p:sp>
        <p:nvSpPr>
          <p:cNvPr id="13" name="Oval 12"/>
          <p:cNvSpPr/>
          <p:nvPr/>
        </p:nvSpPr>
        <p:spPr>
          <a:xfrm>
            <a:off x="8321040" y="1645920"/>
            <a:ext cx="502920" cy="502920"/>
          </a:xfrm>
          <a:prstGeom prst="ellipse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8321040" y="1709928"/>
            <a:ext cx="502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673352"/>
            <a:ext cx="2880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B486C"/>
                </a:solidFill>
                <a:latin typeface="Aptos"/>
              </a:rPr>
              <a:t>Защищённая загрузка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148840"/>
            <a:ext cx="2834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96977"/>
                </a:solidFill>
                <a:latin typeface="Aptos"/>
              </a:rPr>
              <a:t>Только после согласия на обработку ПДн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640080" y="3675888"/>
            <a:ext cx="502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639312"/>
            <a:ext cx="2880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B486C"/>
                </a:solidFill>
                <a:latin typeface="Aptos"/>
              </a:rPr>
              <a:t>Диагностика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348480"/>
            <a:ext cx="2834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96977"/>
                </a:solidFill>
                <a:latin typeface="Aptos"/>
              </a:rPr>
              <a:t>Сверка ИЛС, трудовой и справок</a:t>
            </a:r>
          </a:p>
        </p:txBody>
      </p:sp>
      <p:sp>
        <p:nvSpPr>
          <p:cNvPr id="21" name="Oval 20"/>
          <p:cNvSpPr/>
          <p:nvPr/>
        </p:nvSpPr>
        <p:spPr>
          <a:xfrm>
            <a:off x="4480560" y="3611880"/>
            <a:ext cx="502920" cy="502920"/>
          </a:xfrm>
          <a:prstGeom prst="ellipse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4480560" y="3675888"/>
            <a:ext cx="502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639312"/>
            <a:ext cx="2880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B486C"/>
                </a:solidFill>
                <a:latin typeface="Aptos"/>
              </a:rPr>
              <a:t>План и проект обращения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4348480"/>
            <a:ext cx="2834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96977"/>
                </a:solidFill>
                <a:latin typeface="Aptos"/>
              </a:rPr>
              <a:t>Понятные шаги и приложения</a:t>
            </a:r>
          </a:p>
        </p:txBody>
      </p:sp>
      <p:sp>
        <p:nvSpPr>
          <p:cNvPr id="25" name="Oval 24"/>
          <p:cNvSpPr/>
          <p:nvPr/>
        </p:nvSpPr>
        <p:spPr>
          <a:xfrm>
            <a:off x="8321040" y="3611880"/>
            <a:ext cx="502920" cy="502920"/>
          </a:xfrm>
          <a:prstGeom prst="ellipse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8321040" y="3675888"/>
            <a:ext cx="502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639312"/>
            <a:ext cx="2880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B486C"/>
                </a:solidFill>
                <a:latin typeface="Aptos"/>
              </a:rPr>
              <a:t>Подача в СФР / МФЦ / Госуслуги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4348480"/>
            <a:ext cx="2834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96977"/>
                </a:solidFill>
                <a:latin typeface="Aptos"/>
              </a:rPr>
              <a:t>Решение принимает СФР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6977"/>
                </a:solidFill>
                <a:latin typeface="Aptos"/>
              </a:rPr>
              <a:t>proverkastaza.ru  •  ООО «Под присмотром»  •  информационно-документарная поддержка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6977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86C"/>
                </a:solidFill>
                <a:latin typeface="Aptos"/>
              </a:rPr>
              <a:t>Кому особенно полезен сервис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234440" cy="54864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977"/>
                </a:solidFill>
                <a:latin typeface="Aptos"/>
              </a:rPr>
              <a:t>Фокус — на практической помощи в повторяющихся ситуациях.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64008" cy="804672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932688" y="1737360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B486C"/>
                </a:solidFill>
                <a:latin typeface="Aptos"/>
              </a:rPr>
              <a:t>В ИЛС не отражён период работы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57984"/>
            <a:ext cx="4818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2000"/>
          </a:p>
        </p:txBody>
      </p:sp>
      <p:sp>
        <p:nvSpPr>
          <p:cNvPr id="9" name="Rounded Rectangle 8"/>
          <p:cNvSpPr/>
          <p:nvPr/>
        </p:nvSpPr>
        <p:spPr>
          <a:xfrm>
            <a:off x="6355080" y="1554480"/>
            <a:ext cx="51663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6355080" y="1554480"/>
            <a:ext cx="64008" cy="804672"/>
          </a:xfrm>
          <a:prstGeom prst="rect">
            <a:avLst/>
          </a:prstGeom>
          <a:solidFill>
            <a:srgbClr val="2C6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6556248" y="1737360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B486C"/>
                </a:solidFill>
                <a:latin typeface="Aptos"/>
              </a:rPr>
              <a:t>Работодатель ликвидирован или справки утрачены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157984"/>
            <a:ext cx="4818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2000"/>
          </a:p>
        </p:txBody>
      </p:sp>
      <p:sp>
        <p:nvSpPr>
          <p:cNvPr id="13" name="Rounded Rectangle 12"/>
          <p:cNvSpPr/>
          <p:nvPr/>
        </p:nvSpPr>
        <p:spPr>
          <a:xfrm>
            <a:off x="731520" y="2633472"/>
            <a:ext cx="51663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731520" y="2633472"/>
            <a:ext cx="64008" cy="804672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932688" y="2816352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B486C"/>
                </a:solidFill>
                <a:latin typeface="Aptos"/>
              </a:rPr>
              <a:t>Есть расхождения в ФИО, датах, работодателях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236976"/>
            <a:ext cx="4818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2000"/>
          </a:p>
        </p:txBody>
      </p:sp>
      <p:sp>
        <p:nvSpPr>
          <p:cNvPr id="17" name="Rounded Rectangle 16"/>
          <p:cNvSpPr/>
          <p:nvPr/>
        </p:nvSpPr>
        <p:spPr>
          <a:xfrm>
            <a:off x="6355080" y="2633472"/>
            <a:ext cx="51663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ectangle 17"/>
          <p:cNvSpPr/>
          <p:nvPr/>
        </p:nvSpPr>
        <p:spPr>
          <a:xfrm>
            <a:off x="6355080" y="2633472"/>
            <a:ext cx="64008" cy="804672"/>
          </a:xfrm>
          <a:prstGeom prst="rect">
            <a:avLst/>
          </a:prstGeom>
          <a:solidFill>
            <a:srgbClr val="2C6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6556248" y="2816352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B486C"/>
                </a:solidFill>
                <a:latin typeface="Aptos"/>
              </a:rPr>
              <a:t>Человек готовится к назначению пенсии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236976"/>
            <a:ext cx="4818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2000"/>
          </a:p>
        </p:txBody>
      </p:sp>
      <p:sp>
        <p:nvSpPr>
          <p:cNvPr id="21" name="Rounded Rectangle 20"/>
          <p:cNvSpPr/>
          <p:nvPr/>
        </p:nvSpPr>
        <p:spPr>
          <a:xfrm>
            <a:off x="731520" y="3712463"/>
            <a:ext cx="51663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Rectangle 21"/>
          <p:cNvSpPr/>
          <p:nvPr/>
        </p:nvSpPr>
        <p:spPr>
          <a:xfrm>
            <a:off x="731520" y="3712463"/>
            <a:ext cx="64008" cy="804672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932688" y="3895344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B486C"/>
                </a:solidFill>
                <a:latin typeface="Aptos"/>
              </a:rPr>
              <a:t>Получен отказ или непонятный ответ СФР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315968"/>
            <a:ext cx="4818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2000"/>
          </a:p>
        </p:txBody>
      </p:sp>
      <p:sp>
        <p:nvSpPr>
          <p:cNvPr id="25" name="Rounded Rectangle 24"/>
          <p:cNvSpPr/>
          <p:nvPr/>
        </p:nvSpPr>
        <p:spPr>
          <a:xfrm>
            <a:off x="6355080" y="3712463"/>
            <a:ext cx="51663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Rectangle 25"/>
          <p:cNvSpPr/>
          <p:nvPr/>
        </p:nvSpPr>
        <p:spPr>
          <a:xfrm>
            <a:off x="6355080" y="3712463"/>
            <a:ext cx="64008" cy="804672"/>
          </a:xfrm>
          <a:prstGeom prst="rect">
            <a:avLst/>
          </a:prstGeom>
          <a:solidFill>
            <a:srgbClr val="2C6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6556248" y="3895344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B486C"/>
                </a:solidFill>
                <a:latin typeface="Aptos"/>
              </a:rPr>
              <a:t>Нужно проверить северный, льготный или иной специальный стаж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8" y="4315968"/>
            <a:ext cx="4818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2000"/>
          </a:p>
        </p:txBody>
      </p:sp>
      <p:sp>
        <p:nvSpPr>
          <p:cNvPr id="29" name="Rounded Rectangle 28"/>
          <p:cNvSpPr/>
          <p:nvPr/>
        </p:nvSpPr>
        <p:spPr>
          <a:xfrm>
            <a:off x="731520" y="4791456"/>
            <a:ext cx="51663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Rectangle 29"/>
          <p:cNvSpPr/>
          <p:nvPr/>
        </p:nvSpPr>
        <p:spPr>
          <a:xfrm>
            <a:off x="731520" y="4791456"/>
            <a:ext cx="64008" cy="804672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932688" y="4974336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B486C"/>
                </a:solidFill>
                <a:latin typeface="Aptos"/>
              </a:rPr>
              <a:t>Родственник помогает пожилому человеку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5394960"/>
            <a:ext cx="4818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6977"/>
                </a:solidFill>
                <a:latin typeface="Aptos"/>
              </a:rPr>
              <a:t>proverkastaza.ru  •  ООО «Под присмотром»  •  информационно-документарная поддержка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6977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86C"/>
                </a:solidFill>
                <a:latin typeface="Aptos"/>
              </a:rPr>
              <a:t>Возможный формат взаимодействия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234440" cy="54864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977"/>
                </a:solidFill>
                <a:latin typeface="Aptos"/>
              </a:rPr>
              <a:t>Разделение общественной, информационной и коммерческой коммуникации — обязательное условие.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2468880" cy="502920"/>
          </a:xfrm>
          <a:prstGeom prst="rect">
            <a:avLst/>
          </a:prstGeom>
          <a:solidFill>
            <a:srgbClr val="1B4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704088" y="1536192"/>
            <a:ext cx="2267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Формат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417320"/>
            <a:ext cx="3703320" cy="502920"/>
          </a:xfrm>
          <a:prstGeom prst="rect">
            <a:avLst/>
          </a:prstGeom>
          <a:solidFill>
            <a:srgbClr val="1B4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3355848" y="1536192"/>
            <a:ext cx="35021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Роль приёмной / депутата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417320"/>
            <a:ext cx="4343400" cy="502920"/>
          </a:xfrm>
          <a:prstGeom prst="rect">
            <a:avLst/>
          </a:prstGeom>
          <a:solidFill>
            <a:srgbClr val="1B4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7333488" y="1536192"/>
            <a:ext cx="41422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Роль сервиса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920240"/>
            <a:ext cx="2468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685800" y="205740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303D"/>
                </a:solidFill>
                <a:latin typeface="Aptos"/>
              </a:rPr>
              <a:t>Памятка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920240"/>
            <a:ext cx="37033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3337560" y="2057400"/>
            <a:ext cx="35204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303D"/>
                </a:solidFill>
                <a:latin typeface="Aptos"/>
              </a:rPr>
              <a:t>Распространяет нейтральную инструкцию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1920240"/>
            <a:ext cx="4343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7315200" y="2057400"/>
            <a:ext cx="4160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303D"/>
                </a:solidFill>
                <a:latin typeface="Aptos"/>
              </a:rPr>
              <a:t>Готовит понятный материал об ИЛС и документах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907792"/>
            <a:ext cx="2468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685800" y="3044952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303D"/>
                </a:solidFill>
                <a:latin typeface="Aptos"/>
              </a:rPr>
              <a:t>Тематическая встреча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2907792"/>
            <a:ext cx="37033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3337560" y="3044952"/>
            <a:ext cx="35204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303D"/>
                </a:solidFill>
                <a:latin typeface="Aptos"/>
              </a:rPr>
              <a:t>Собирает типовые вопросы граждан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2907792"/>
            <a:ext cx="4343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7315200" y="3044952"/>
            <a:ext cx="4160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303D"/>
                </a:solidFill>
                <a:latin typeface="Aptos"/>
              </a:rPr>
              <a:t>Разъясняет сценарии без персональных данных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895344"/>
            <a:ext cx="2468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685800" y="4032504"/>
            <a:ext cx="228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303D"/>
                </a:solidFill>
                <a:latin typeface="Aptos"/>
              </a:rPr>
              <a:t>Аналитическая записка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895344"/>
            <a:ext cx="37033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3337560" y="4032504"/>
            <a:ext cx="35204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303D"/>
                </a:solidFill>
                <a:latin typeface="Aptos"/>
              </a:rPr>
              <a:t>Использует обезличенные проблемы в работе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3895344"/>
            <a:ext cx="4343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7315200" y="4032504"/>
            <a:ext cx="4160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303D"/>
                </a:solidFill>
                <a:latin typeface="Aptos"/>
              </a:rPr>
              <a:t>Группирует повторяющиеся барьеры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882896"/>
            <a:ext cx="2468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685800" y="5020056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303D"/>
                </a:solidFill>
                <a:latin typeface="Aptos"/>
              </a:rPr>
              <a:t>Личное обращение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4882896"/>
            <a:ext cx="37033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3337560" y="5020056"/>
            <a:ext cx="35204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303D"/>
                </a:solidFill>
                <a:latin typeface="Aptos"/>
              </a:rPr>
              <a:t>Направляет к официальным каналам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4882896"/>
            <a:ext cx="4343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7315200" y="5020056"/>
            <a:ext cx="4160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303D"/>
                </a:solidFill>
                <a:latin typeface="Aptos"/>
              </a:rPr>
              <a:t>Только самостоятельный контакт гражданина вне политической коммуникации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6977"/>
                </a:solidFill>
                <a:latin typeface="Aptos"/>
              </a:rPr>
              <a:t>proverkastaza.ru  •  ООО «Под присмотром»  •  информационно-документарная поддержка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6977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86C"/>
                </a:solidFill>
                <a:latin typeface="Aptos"/>
              </a:rPr>
              <a:t>Социальный эффект и показатели пилота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234440" cy="54864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977"/>
                </a:solidFill>
                <a:latin typeface="Aptos"/>
              </a:rPr>
              <a:t>Измеряем качество навигации и системные барьеры, а не голоса, лиды или продажи.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64008" cy="1417320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86C"/>
                </a:solidFill>
                <a:latin typeface="Aptos"/>
              </a:rPr>
              <a:t>Для гражданина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49424"/>
            <a:ext cx="4818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23303D"/>
                </a:solidFill>
                <a:latin typeface="Aptos"/>
              </a:rPr>
              <a:t>Понимание</a:t>
            </a:r>
            <a:r>
              <a:rPr b="0" dirty="0">
                <a:solidFill>
                  <a:srgbClr val="23303D"/>
                </a:solidFill>
                <a:latin typeface="Aptos"/>
              </a:rPr>
              <a:t>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ситуации</a:t>
            </a:r>
            <a:r>
              <a:rPr b="0" dirty="0">
                <a:solidFill>
                  <a:srgbClr val="23303D"/>
                </a:solidFill>
                <a:latin typeface="Aptos"/>
              </a:rPr>
              <a:t>,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контроль</a:t>
            </a:r>
            <a:r>
              <a:rPr b="0" dirty="0">
                <a:solidFill>
                  <a:srgbClr val="23303D"/>
                </a:solidFill>
                <a:latin typeface="Aptos"/>
              </a:rPr>
              <a:t>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над</a:t>
            </a:r>
            <a:r>
              <a:rPr b="0" dirty="0">
                <a:solidFill>
                  <a:srgbClr val="23303D"/>
                </a:solidFill>
                <a:latin typeface="Aptos"/>
              </a:rPr>
              <a:t>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документами</a:t>
            </a:r>
            <a:r>
              <a:rPr b="0" dirty="0">
                <a:solidFill>
                  <a:srgbClr val="23303D"/>
                </a:solidFill>
                <a:latin typeface="Aptos"/>
              </a:rPr>
              <a:t>,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законный</a:t>
            </a:r>
            <a:r>
              <a:rPr b="0" dirty="0">
                <a:solidFill>
                  <a:srgbClr val="23303D"/>
                </a:solidFill>
                <a:latin typeface="Aptos"/>
              </a:rPr>
              <a:t>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маршрут</a:t>
            </a:r>
            <a:r>
              <a:rPr b="0" dirty="0">
                <a:solidFill>
                  <a:srgbClr val="23303D"/>
                </a:solidFill>
                <a:latin typeface="Aptos"/>
              </a:rPr>
              <a:t>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действий</a:t>
            </a:r>
            <a:endParaRPr b="0" dirty="0">
              <a:solidFill>
                <a:srgbClr val="23303D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55080" y="164592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55080" y="1645920"/>
            <a:ext cx="64008" cy="1417320"/>
          </a:xfrm>
          <a:prstGeom prst="rect">
            <a:avLst/>
          </a:prstGeom>
          <a:solidFill>
            <a:srgbClr val="2C6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6248" y="1828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86C"/>
                </a:solidFill>
                <a:latin typeface="Aptos"/>
              </a:rPr>
              <a:t>Для семьи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249424"/>
            <a:ext cx="4818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3303D"/>
                </a:solidFill>
                <a:latin typeface="Aptos"/>
              </a:rPr>
              <a:t>Меньше цифровой и бюрократической нагрузки при помощи родителям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64008" cy="1417320"/>
          </a:xfrm>
          <a:prstGeom prst="rect">
            <a:avLst/>
          </a:prstGeom>
          <a:solidFill>
            <a:srgbClr val="C69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657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86C"/>
                </a:solidFill>
                <a:latin typeface="Aptos"/>
              </a:rPr>
              <a:t>Для приёмной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4818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3303D"/>
                </a:solidFill>
                <a:latin typeface="Aptos"/>
              </a:rPr>
              <a:t>Более структурированные обращения и меньше повторных визитов без документов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47472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3474720"/>
            <a:ext cx="64008" cy="1417320"/>
          </a:xfrm>
          <a:prstGeom prst="rect">
            <a:avLst/>
          </a:prstGeom>
          <a:solidFill>
            <a:srgbClr val="1B4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56248" y="3657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86C"/>
                </a:solidFill>
                <a:latin typeface="Aptos"/>
              </a:rPr>
              <a:t>Для депутата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4078224"/>
            <a:ext cx="4818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3303D"/>
                </a:solidFill>
                <a:latin typeface="Aptos"/>
              </a:rPr>
              <a:t>Обезличенная картина барьеров для обращений в профильные органы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486C"/>
                </a:solidFill>
                <a:latin typeface="Aptos"/>
              </a:rPr>
              <a:t>Метрики: разъяснения • подготовленные комплекты документов • типовые барьеры • обезличенные предложения.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6977"/>
                </a:solidFill>
                <a:latin typeface="Aptos"/>
              </a:rPr>
              <a:t>proverkastaza.ru  •  ООО «Под присмотром»  •  информационно-документарная поддержка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6977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86C"/>
                </a:solidFill>
                <a:latin typeface="Aptos"/>
              </a:rPr>
              <a:t>Предложение: пилот на 60 дней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234440" cy="54864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977"/>
                </a:solidFill>
                <a:latin typeface="Aptos"/>
              </a:rPr>
              <a:t>Небольшой, управляемый и юридически разделённый формат проверки востребованности.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5760720" cy="462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 b="0" dirty="0" err="1">
                <a:solidFill>
                  <a:srgbClr val="23303D"/>
                </a:solidFill>
                <a:latin typeface="Aptos"/>
              </a:rPr>
              <a:t>Одна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тематическая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встреча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или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вебинар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для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граждан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и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помощников</a:t>
            </a:r>
            <a:endParaRPr lang="en-US" dirty="0">
              <a:solidFill>
                <a:srgbClr val="23303D"/>
              </a:solidFill>
              <a:latin typeface="Aptos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 b="0" dirty="0" err="1">
                <a:solidFill>
                  <a:srgbClr val="23303D"/>
                </a:solidFill>
                <a:latin typeface="Aptos"/>
              </a:rPr>
              <a:t>Нейтральная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памятка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«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Как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проверить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выписку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ИЛС»
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Памятка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для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сотрудников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общественной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приёмной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по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маршрутизации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вопросов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
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Один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обезличенный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отчёт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: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типовые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проблемы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и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предложения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
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Проверка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юридического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разделения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ролей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и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каналов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коммуникации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
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Итоговая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встреча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и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решение</a:t>
            </a:r>
            <a:r>
              <a:rPr sz="1800" b="0" dirty="0">
                <a:solidFill>
                  <a:srgbClr val="23303D"/>
                </a:solidFill>
                <a:latin typeface="Aptos"/>
              </a:rPr>
              <a:t> о </a:t>
            </a:r>
            <a:r>
              <a:rPr sz="1800" b="0" dirty="0" err="1">
                <a:solidFill>
                  <a:srgbClr val="23303D"/>
                </a:solidFill>
                <a:latin typeface="Aptos"/>
              </a:rPr>
              <a:t>продолжении</a:t>
            </a:r>
            <a:endParaRPr sz="1800" b="0" dirty="0">
              <a:solidFill>
                <a:srgbClr val="23303D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903720" y="1600200"/>
            <a:ext cx="4160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903720" y="1783080"/>
            <a:ext cx="64008" cy="3291840"/>
          </a:xfrm>
          <a:prstGeom prst="rect">
            <a:avLst/>
          </a:prstGeom>
          <a:solidFill>
            <a:srgbClr val="C69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04888" y="19659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86C"/>
                </a:solidFill>
                <a:latin typeface="Aptos"/>
              </a:rPr>
              <a:t>Обязательные условия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4888" y="2386584"/>
            <a:ext cx="3813048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sz="1600" b="0" dirty="0">
                <a:solidFill>
                  <a:srgbClr val="23303D"/>
                </a:solidFill>
                <a:latin typeface="Aptos"/>
              </a:rPr>
              <a:t>•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Без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партийной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символики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и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агитационных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призывов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в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материалах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сервиса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Без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рекламы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услуг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в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агитационных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материалах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Без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передачи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персональных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данных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через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приёмную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Только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самостоятельное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обращение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гражданина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к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сервису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Финальная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правовая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проверка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штабом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и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специалистом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по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избирательному</a:t>
            </a:r>
            <a:r>
              <a:rPr sz="1600" b="0" dirty="0">
                <a:solidFill>
                  <a:srgbClr val="23303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3303D"/>
                </a:solidFill>
                <a:latin typeface="Aptos"/>
              </a:rPr>
              <a:t>праву</a:t>
            </a:r>
            <a:endParaRPr sz="1600" b="0" dirty="0">
              <a:solidFill>
                <a:srgbClr val="23303D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6977"/>
                </a:solidFill>
                <a:latin typeface="Aptos"/>
              </a:rPr>
              <a:t>proverkastaza.ru  •  ООО «Под присмотром»  •  информационно-документарная поддержка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697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86C"/>
                </a:solidFill>
                <a:latin typeface="Aptos"/>
              </a:rPr>
              <a:t>Контакты и следующий шаг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234440" cy="54864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977"/>
                </a:solidFill>
                <a:latin typeface="Aptos"/>
              </a:rPr>
              <a:t>Готовы показать интерфейс, пример обезличенного маршрута и пакет методических материалов.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B486C"/>
                </a:solidFill>
                <a:latin typeface="Aptos"/>
              </a:rPr>
              <a:t>proverkastaza.ru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303D"/>
                </a:solidFill>
                <a:latin typeface="Aptos"/>
              </a:rPr>
              <a:t>ООО «Под присмотром»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 err="1">
                <a:solidFill>
                  <a:srgbClr val="596977"/>
                </a:solidFill>
                <a:latin typeface="Aptos"/>
              </a:rPr>
              <a:t>Информационно-документарная</a:t>
            </a:r>
            <a:r>
              <a:rPr sz="1700" b="0" dirty="0">
                <a:solidFill>
                  <a:srgbClr val="59697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596977"/>
                </a:solidFill>
                <a:latin typeface="Aptos"/>
              </a:rPr>
              <a:t>поддержка</a:t>
            </a:r>
            <a:r>
              <a:rPr sz="1700" b="0" dirty="0">
                <a:solidFill>
                  <a:srgbClr val="59697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596977"/>
                </a:solidFill>
                <a:latin typeface="Aptos"/>
              </a:rPr>
              <a:t>по</a:t>
            </a:r>
            <a:r>
              <a:rPr sz="1700" b="0" dirty="0">
                <a:solidFill>
                  <a:srgbClr val="59697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596977"/>
                </a:solidFill>
                <a:latin typeface="Aptos"/>
              </a:rPr>
              <a:t>вопросам</a:t>
            </a:r>
            <a:r>
              <a:rPr sz="1700" b="0" dirty="0">
                <a:solidFill>
                  <a:srgbClr val="59697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596977"/>
                </a:solidFill>
                <a:latin typeface="Aptos"/>
              </a:rPr>
              <a:t>пенсионного</a:t>
            </a:r>
            <a:r>
              <a:rPr sz="1700" b="0" dirty="0">
                <a:solidFill>
                  <a:srgbClr val="59697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596977"/>
                </a:solidFill>
                <a:latin typeface="Aptos"/>
              </a:rPr>
              <a:t>стажа</a:t>
            </a:r>
            <a:r>
              <a:rPr sz="1700" b="0" dirty="0">
                <a:solidFill>
                  <a:srgbClr val="596977"/>
                </a:solidFill>
                <a:latin typeface="Aptos"/>
              </a:rPr>
              <a:t>, </a:t>
            </a:r>
            <a:r>
              <a:rPr sz="1700" b="0" dirty="0" err="1">
                <a:solidFill>
                  <a:srgbClr val="596977"/>
                </a:solidFill>
                <a:latin typeface="Aptos"/>
              </a:rPr>
              <a:t>выписки</a:t>
            </a:r>
            <a:r>
              <a:rPr sz="1700" b="0" dirty="0">
                <a:solidFill>
                  <a:srgbClr val="596977"/>
                </a:solidFill>
                <a:latin typeface="Aptos"/>
              </a:rPr>
              <a:t> ИЛС и </a:t>
            </a:r>
            <a:r>
              <a:rPr sz="1700" b="0" dirty="0" err="1">
                <a:solidFill>
                  <a:srgbClr val="596977"/>
                </a:solidFill>
                <a:latin typeface="Aptos"/>
              </a:rPr>
              <a:t>подготовки</a:t>
            </a:r>
            <a:r>
              <a:rPr sz="1700" b="0" dirty="0">
                <a:solidFill>
                  <a:srgbClr val="59697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596977"/>
                </a:solidFill>
                <a:latin typeface="Aptos"/>
              </a:rPr>
              <a:t>обращения</a:t>
            </a:r>
            <a:r>
              <a:rPr sz="1700" b="0" dirty="0">
                <a:solidFill>
                  <a:srgbClr val="596977"/>
                </a:solidFill>
                <a:latin typeface="Aptos"/>
              </a:rPr>
              <a:t> в СФР.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023360"/>
            <a:ext cx="4754880" cy="1581912"/>
          </a:xfrm>
          <a:prstGeom prst="roundRect">
            <a:avLst/>
          </a:prstGeom>
          <a:solidFill>
            <a:srgbClr val="FFFFFF"/>
          </a:solidFill>
          <a:ln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4023360"/>
            <a:ext cx="54864" cy="1581912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420624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86C"/>
                </a:solidFill>
                <a:latin typeface="Aptos"/>
              </a:rPr>
              <a:t>Следующий шаг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626864"/>
            <a:ext cx="44074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23303D"/>
                </a:solidFill>
                <a:latin typeface="Aptos"/>
              </a:rPr>
              <a:t>Согласовать</a:t>
            </a:r>
            <a:r>
              <a:rPr b="0" dirty="0">
                <a:solidFill>
                  <a:srgbClr val="23303D"/>
                </a:solidFill>
                <a:latin typeface="Aptos"/>
              </a:rPr>
              <a:t>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формат</a:t>
            </a:r>
            <a:r>
              <a:rPr b="0" dirty="0">
                <a:solidFill>
                  <a:srgbClr val="23303D"/>
                </a:solidFill>
                <a:latin typeface="Aptos"/>
              </a:rPr>
              <a:t>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демонстрации</a:t>
            </a:r>
            <a:r>
              <a:rPr b="0" dirty="0">
                <a:solidFill>
                  <a:srgbClr val="23303D"/>
                </a:solidFill>
                <a:latin typeface="Aptos"/>
              </a:rPr>
              <a:t>,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состав</a:t>
            </a:r>
            <a:r>
              <a:rPr b="0" dirty="0">
                <a:solidFill>
                  <a:srgbClr val="23303D"/>
                </a:solidFill>
                <a:latin typeface="Aptos"/>
              </a:rPr>
              <a:t>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материалов</a:t>
            </a:r>
            <a:r>
              <a:rPr b="0" dirty="0">
                <a:solidFill>
                  <a:srgbClr val="23303D"/>
                </a:solidFill>
                <a:latin typeface="Aptos"/>
              </a:rPr>
              <a:t> и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правовую</a:t>
            </a:r>
            <a:r>
              <a:rPr b="0" dirty="0">
                <a:solidFill>
                  <a:srgbClr val="23303D"/>
                </a:solidFill>
                <a:latin typeface="Aptos"/>
              </a:rPr>
              <a:t>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проверку</a:t>
            </a:r>
            <a:r>
              <a:rPr b="0" dirty="0">
                <a:solidFill>
                  <a:srgbClr val="23303D"/>
                </a:solidFill>
                <a:latin typeface="Aptos"/>
              </a:rPr>
              <a:t> </a:t>
            </a:r>
            <a:r>
              <a:rPr b="0" dirty="0" err="1">
                <a:solidFill>
                  <a:srgbClr val="23303D"/>
                </a:solidFill>
                <a:latin typeface="Aptos"/>
              </a:rPr>
              <a:t>пилота</a:t>
            </a:r>
            <a:r>
              <a:rPr b="0" dirty="0">
                <a:solidFill>
                  <a:srgbClr val="23303D"/>
                </a:solidFill>
                <a:latin typeface="Apto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194561"/>
            <a:ext cx="4206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dirty="0" err="1">
                <a:solidFill>
                  <a:srgbClr val="1B486C"/>
                </a:solidFill>
                <a:latin typeface="Aptos"/>
              </a:rPr>
              <a:t>Важно</a:t>
            </a:r>
            <a:r>
              <a:rPr sz="1900" b="1" dirty="0">
                <a:solidFill>
                  <a:srgbClr val="1B486C"/>
                </a:solidFill>
                <a:latin typeface="Aptos"/>
              </a:rPr>
              <a:t>:
</a:t>
            </a:r>
            <a:r>
              <a:rPr sz="1900" b="1" dirty="0" err="1">
                <a:solidFill>
                  <a:srgbClr val="1B486C"/>
                </a:solidFill>
                <a:latin typeface="Aptos"/>
              </a:rPr>
              <a:t>решение</a:t>
            </a:r>
            <a:r>
              <a:rPr sz="1900" b="1" dirty="0">
                <a:solidFill>
                  <a:srgbClr val="1B486C"/>
                </a:solidFill>
                <a:latin typeface="Aptos"/>
              </a:rPr>
              <a:t> о </a:t>
            </a:r>
            <a:r>
              <a:rPr sz="1900" b="1" dirty="0" err="1">
                <a:solidFill>
                  <a:srgbClr val="1B486C"/>
                </a:solidFill>
                <a:latin typeface="Aptos"/>
              </a:rPr>
              <a:t>назначении</a:t>
            </a:r>
            <a:r>
              <a:rPr sz="1900" b="1" dirty="0">
                <a:solidFill>
                  <a:srgbClr val="1B486C"/>
                </a:solidFill>
                <a:latin typeface="Aptos"/>
              </a:rPr>
              <a:t> и </a:t>
            </a:r>
            <a:r>
              <a:rPr sz="1900" b="1" dirty="0" err="1">
                <a:solidFill>
                  <a:srgbClr val="1B486C"/>
                </a:solidFill>
                <a:latin typeface="Aptos"/>
              </a:rPr>
              <a:t>перерасчёте</a:t>
            </a:r>
            <a:r>
              <a:rPr sz="1900" b="1" dirty="0">
                <a:solidFill>
                  <a:srgbClr val="1B486C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1B486C"/>
                </a:solidFill>
                <a:latin typeface="Aptos"/>
              </a:rPr>
              <a:t>пенсии</a:t>
            </a:r>
            <a:r>
              <a:rPr sz="1900" b="1" dirty="0">
                <a:solidFill>
                  <a:srgbClr val="1B486C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1B486C"/>
                </a:solidFill>
                <a:latin typeface="Aptos"/>
              </a:rPr>
              <a:t>принимает</a:t>
            </a:r>
            <a:r>
              <a:rPr sz="1900" b="1" dirty="0">
                <a:solidFill>
                  <a:srgbClr val="1B486C"/>
                </a:solidFill>
                <a:latin typeface="Aptos"/>
              </a:rPr>
              <a:t> СФР.
</a:t>
            </a:r>
            <a:r>
              <a:rPr sz="1900" b="1" dirty="0" err="1">
                <a:solidFill>
                  <a:srgbClr val="1B486C"/>
                </a:solidFill>
                <a:latin typeface="Aptos"/>
              </a:rPr>
              <a:t>Сервис</a:t>
            </a:r>
            <a:r>
              <a:rPr sz="1900" b="1" dirty="0">
                <a:solidFill>
                  <a:srgbClr val="1B486C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1B486C"/>
                </a:solidFill>
                <a:latin typeface="Aptos"/>
              </a:rPr>
              <a:t>не</a:t>
            </a:r>
            <a:r>
              <a:rPr sz="1900" b="1" dirty="0">
                <a:solidFill>
                  <a:srgbClr val="1B486C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1B486C"/>
                </a:solidFill>
                <a:latin typeface="Aptos"/>
              </a:rPr>
              <a:t>является</a:t>
            </a:r>
            <a:r>
              <a:rPr sz="1900" b="1" dirty="0">
                <a:solidFill>
                  <a:srgbClr val="1B486C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1B486C"/>
                </a:solidFill>
                <a:latin typeface="Aptos"/>
              </a:rPr>
              <a:t>государственным</a:t>
            </a:r>
            <a:r>
              <a:rPr sz="1900" b="1" dirty="0">
                <a:solidFill>
                  <a:srgbClr val="1B486C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1B486C"/>
                </a:solidFill>
                <a:latin typeface="Aptos"/>
              </a:rPr>
              <a:t>органом</a:t>
            </a:r>
            <a:r>
              <a:rPr sz="1900" b="1" dirty="0">
                <a:solidFill>
                  <a:srgbClr val="1B486C"/>
                </a:solidFill>
                <a:latin typeface="Aptos"/>
              </a:rPr>
              <a:t> и </a:t>
            </a:r>
            <a:r>
              <a:rPr sz="1900" b="1" dirty="0" err="1">
                <a:solidFill>
                  <a:srgbClr val="1B486C"/>
                </a:solidFill>
                <a:latin typeface="Aptos"/>
              </a:rPr>
              <a:t>не</a:t>
            </a:r>
            <a:r>
              <a:rPr sz="1900" b="1" dirty="0">
                <a:solidFill>
                  <a:srgbClr val="1B486C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1B486C"/>
                </a:solidFill>
                <a:latin typeface="Aptos"/>
              </a:rPr>
              <a:t>гарантирует</a:t>
            </a:r>
            <a:r>
              <a:rPr sz="1900" b="1" dirty="0">
                <a:solidFill>
                  <a:srgbClr val="1B486C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1B486C"/>
                </a:solidFill>
                <a:latin typeface="Aptos"/>
              </a:rPr>
              <a:t>результат</a:t>
            </a:r>
            <a:r>
              <a:rPr sz="1900" b="1" dirty="0">
                <a:solidFill>
                  <a:srgbClr val="1B486C"/>
                </a:solidFill>
                <a:latin typeface="Apto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6977"/>
                </a:solidFill>
                <a:latin typeface="Aptos"/>
              </a:rPr>
              <a:t>proverkastaza.ru  •  ООО «Под присмотром»  •  информационно-документарная поддержка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697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967</Words>
  <Application>Microsoft Office PowerPoint</Application>
  <PresentationFormat>Широкоэкранный</PresentationFormat>
  <Paragraphs>141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Сергей Богдановский</cp:lastModifiedBy>
  <cp:revision>2</cp:revision>
  <dcterms:created xsi:type="dcterms:W3CDTF">2013-01-27T09:14:16Z</dcterms:created>
  <dcterms:modified xsi:type="dcterms:W3CDTF">2026-08-22T11:36:29Z</dcterms:modified>
  <cp:category/>
</cp:coreProperties>
</file>